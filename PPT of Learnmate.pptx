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5"/>
  </p:notesMasterIdLst>
  <p:sldIdLst>
    <p:sldId id="283" r:id="rId2"/>
    <p:sldId id="257" r:id="rId3"/>
    <p:sldId id="282" r:id="rId4"/>
    <p:sldId id="284" r:id="rId5"/>
    <p:sldId id="285" r:id="rId6"/>
    <p:sldId id="281" r:id="rId7"/>
    <p:sldId id="279" r:id="rId8"/>
    <p:sldId id="264" r:id="rId9"/>
    <p:sldId id="278" r:id="rId10"/>
    <p:sldId id="286" r:id="rId11"/>
    <p:sldId id="277" r:id="rId12"/>
    <p:sldId id="280" r:id="rId13"/>
    <p:sldId id="276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86"/>
  </p:normalViewPr>
  <p:slideViewPr>
    <p:cSldViewPr snapToGrid="0">
      <p:cViewPr varScale="1">
        <p:scale>
          <a:sx n="82" d="100"/>
          <a:sy n="82" d="100"/>
        </p:scale>
        <p:origin x="69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20A8E369-C804-D8D2-383B-03E8A5478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168FC73D-F867-8E13-0025-1B40818921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449581B4-9B47-7782-B749-078618A6E5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051513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37D20EF-0791-5303-F96E-0F0C1B50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9DCBA8EB-6D71-7B5E-841C-4BFFBDA5F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C2CD162-5BE5-06C8-E06C-B4A49D4BC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13540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49666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C2F88CF5-D0C3-0228-6C1A-E849738B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15C41DBA-EB5E-9EB1-28D2-68EF3081A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9AACA92E-BC74-25E5-B8D5-2E658F81C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75871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FB18EFA4-CD13-16C4-504B-6DB7E86CE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E8E16183-6BFA-E60A-1235-F3BFB1B1F6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C4420B06-3455-3F20-5E28-90535F24DA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51753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387" y="731520"/>
            <a:ext cx="10515600" cy="2276375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>
                <a:solidFill>
                  <a:schemeClr val="accent1">
                    <a:lumMod val="75000"/>
                  </a:schemeClr>
                </a:solidFill>
              </a:rPr>
              <a:t>IBM University Engagement Project Submission</a:t>
            </a:r>
            <a:br>
              <a:rPr lang="en-US" sz="4400" b="1" dirty="0">
                <a:solidFill>
                  <a:schemeClr val="accent1">
                    <a:lumMod val="75000"/>
                  </a:schemeClr>
                </a:solidFill>
              </a:rPr>
            </a:br>
            <a:endParaRPr lang="en-IN" sz="4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A6F334-82AF-F902-395D-CE356E0D51E7}"/>
              </a:ext>
            </a:extLst>
          </p:cNvPr>
          <p:cNvSpPr txBox="1"/>
          <p:nvPr/>
        </p:nvSpPr>
        <p:spPr>
          <a:xfrm>
            <a:off x="1026695" y="3850105"/>
            <a:ext cx="1014429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2">
                    <a:lumMod val="75000"/>
                  </a:schemeClr>
                </a:solidFill>
              </a:rPr>
              <a:t>Name</a:t>
            </a:r>
            <a:r>
              <a:rPr lang="en-IN" sz="3600" dirty="0">
                <a:solidFill>
                  <a:schemeClr val="accent2">
                    <a:lumMod val="75000"/>
                  </a:schemeClr>
                </a:solidFill>
              </a:rPr>
              <a:t> :</a:t>
            </a:r>
            <a:r>
              <a:rPr lang="en-IN" sz="3600" dirty="0"/>
              <a:t> T. Rohitha</a:t>
            </a:r>
          </a:p>
          <a:p>
            <a:r>
              <a:rPr lang="en-IN" sz="3600" b="1" dirty="0">
                <a:solidFill>
                  <a:schemeClr val="accent2">
                    <a:lumMod val="75000"/>
                  </a:schemeClr>
                </a:solidFill>
              </a:rPr>
              <a:t>Email ID : </a:t>
            </a:r>
            <a:r>
              <a:rPr lang="en-IN" sz="3600" dirty="0"/>
              <a:t>thogururohitha123@gmail.com</a:t>
            </a:r>
          </a:p>
          <a:p>
            <a:r>
              <a:rPr lang="en-IN" sz="3600" b="1" dirty="0">
                <a:solidFill>
                  <a:schemeClr val="accent2">
                    <a:lumMod val="75000"/>
                  </a:schemeClr>
                </a:solidFill>
              </a:rPr>
              <a:t>Domain of the Project</a:t>
            </a:r>
            <a:r>
              <a:rPr lang="en-IN" sz="36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IN" sz="3600" dirty="0"/>
              <a:t>: Education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957564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 dirty="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3850633257"/>
              </p:ext>
            </p:extLst>
          </p:nvPr>
        </p:nvGraphicFramePr>
        <p:xfrm>
          <a:off x="871958" y="3146196"/>
          <a:ext cx="10629417" cy="3318772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336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44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644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644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49043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Student Name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Recent Passport Photo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Email ID 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Mobile number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[WhatsApp] 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342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IN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IN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/>
                        <a:t>           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/>
                        <a:t>     </a:t>
                      </a:r>
                      <a:r>
                        <a:rPr lang="en-IN" sz="2000" dirty="0"/>
                        <a:t>T .Rohitha</a:t>
                      </a:r>
                      <a:endParaRPr sz="20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IN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IN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IN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dirty="0"/>
                        <a:t>thogururohitha123@gmail.com</a:t>
                      </a:r>
                      <a:endParaRPr sz="16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IN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IN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IN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dirty="0"/>
                        <a:t>         9392533470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3D723CA3-EC2D-165A-F109-3759C4E9C8A4}"/>
              </a:ext>
            </a:extLst>
          </p:cNvPr>
          <p:cNvSpPr txBox="1"/>
          <p:nvPr/>
        </p:nvSpPr>
        <p:spPr>
          <a:xfrm>
            <a:off x="856622" y="657145"/>
            <a:ext cx="10356809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2">
                    <a:lumMod val="75000"/>
                  </a:schemeClr>
                </a:solidFill>
              </a:rPr>
              <a:t>Project Title : </a:t>
            </a:r>
            <a:r>
              <a:rPr lang="en-US" sz="2400" dirty="0"/>
              <a:t>Learn Mate AI – </a:t>
            </a:r>
            <a:r>
              <a:rPr lang="en-US" sz="2800" dirty="0"/>
              <a:t>Personalized</a:t>
            </a:r>
            <a:r>
              <a:rPr lang="en-US" sz="2400" dirty="0"/>
              <a:t> Course Pathway Agent</a:t>
            </a:r>
          </a:p>
          <a:p>
            <a:r>
              <a:rPr lang="en-US" sz="2400" dirty="0"/>
              <a:t> using IBM Granite</a:t>
            </a:r>
            <a:endParaRPr lang="en-IN" sz="2400" b="1" dirty="0">
              <a:highlight>
                <a:srgbClr val="FFFF00"/>
              </a:highligh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C3E895-F05A-6D0B-D777-C08848A12E15}"/>
              </a:ext>
            </a:extLst>
          </p:cNvPr>
          <p:cNvSpPr txBox="1"/>
          <p:nvPr/>
        </p:nvSpPr>
        <p:spPr>
          <a:xfrm>
            <a:off x="856622" y="1759945"/>
            <a:ext cx="3490789" cy="4734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Domain of the Project: </a:t>
            </a:r>
            <a:endParaRPr lang="en-US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6A01E8-0F4A-5968-AAEF-5A81DBD98D42}"/>
              </a:ext>
            </a:extLst>
          </p:cNvPr>
          <p:cNvSpPr txBox="1"/>
          <p:nvPr/>
        </p:nvSpPr>
        <p:spPr>
          <a:xfrm>
            <a:off x="4170947" y="1771735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tx1"/>
                </a:solidFill>
              </a:rPr>
              <a:t>Education Technology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endParaRPr lang="en-US" sz="24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08644C0-37D2-4ED6-65D9-B2C7A2C87E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3840" y="4871909"/>
            <a:ext cx="985506" cy="134919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179832" y="255746"/>
            <a:ext cx="10607040" cy="69249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Problem Statement : </a:t>
            </a:r>
            <a:r>
              <a:rPr lang="en-US" sz="1800" dirty="0"/>
              <a:t>Agentic AI for Personalized Course Pathways</a:t>
            </a:r>
          </a:p>
          <a:p>
            <a:pPr fontAlgn="base"/>
            <a:endParaRPr lang="en-US" sz="2000" b="1" dirty="0">
              <a:solidFill>
                <a:schemeClr val="accent2">
                  <a:lumMod val="75000"/>
                </a:schemeClr>
              </a:solidFill>
            </a:endParaRPr>
          </a:p>
          <a:p>
            <a:pPr fontAlgn="base"/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The Challenge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 </a:t>
            </a:r>
            <a:r>
              <a:rPr lang="en-US" sz="1800" dirty="0"/>
              <a:t>:</a:t>
            </a:r>
          </a:p>
          <a:p>
            <a:pPr fontAlgn="base"/>
            <a:endParaRPr lang="en-US" sz="1800" dirty="0"/>
          </a:p>
          <a:p>
            <a:pPr fontAlgn="base"/>
            <a:r>
              <a:rPr lang="en-US" sz="1800" dirty="0"/>
              <a:t>Students often struggle to identify the right learning path because of the overwhelming number of online courses and lack of personalized guidance.</a:t>
            </a:r>
          </a:p>
          <a:p>
            <a:pPr fontAlgn="base"/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Many learners are confused about: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what skills to learn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which technologies are important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which projects to build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how to prepare for placements or career goals</a:t>
            </a:r>
          </a:p>
          <a:p>
            <a:endParaRPr lang="en-US" sz="1800" dirty="0"/>
          </a:p>
          <a:p>
            <a:pPr fontAlgn="base"/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The Objective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 :</a:t>
            </a:r>
          </a:p>
          <a:p>
            <a:pPr fontAlgn="base"/>
            <a:endParaRPr lang="en-US" sz="1800" dirty="0"/>
          </a:p>
          <a:p>
            <a:r>
              <a:rPr lang="en-IN" sz="1800" dirty="0"/>
              <a:t>Build an AI-powered Personalized Course Pathway Agent that:</a:t>
            </a:r>
          </a:p>
          <a:p>
            <a:endParaRPr lang="en-IN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 err="1"/>
              <a:t>Analyzes</a:t>
            </a:r>
            <a:r>
              <a:rPr lang="en-IN" sz="1800" dirty="0"/>
              <a:t> student interests and skill levels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 recommends personalized learning roadmaps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 suggests relevant skills, courses, and projects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 provides career-focused guidance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 dynamically adapts recommendations</a:t>
            </a:r>
          </a:p>
          <a:p>
            <a:endParaRPr lang="en-IN" sz="1800" dirty="0"/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952584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6A77E81F-021A-57FB-C709-7E7075649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7CFCB91-EF22-EB8C-5B0D-4D46021F0245}"/>
              </a:ext>
            </a:extLst>
          </p:cNvPr>
          <p:cNvSpPr txBox="1"/>
          <p:nvPr/>
        </p:nvSpPr>
        <p:spPr>
          <a:xfrm>
            <a:off x="545592" y="1512546"/>
            <a:ext cx="1060704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2">
                    <a:lumMod val="75000"/>
                  </a:schemeClr>
                </a:solidFill>
              </a:rPr>
              <a:t>Tech Stack I used:</a:t>
            </a:r>
          </a:p>
          <a:p>
            <a:endParaRPr lang="en-US" b="1" dirty="0"/>
          </a:p>
          <a:p>
            <a:endParaRPr lang="en-US" b="1" dirty="0"/>
          </a:p>
          <a:p>
            <a:r>
              <a:rPr lang="en-US" sz="2400" dirty="0"/>
              <a:t> </a:t>
            </a:r>
            <a:r>
              <a:rPr lang="en-IN" sz="2400" dirty="0"/>
              <a:t>Python + </a:t>
            </a:r>
            <a:r>
              <a:rPr lang="en-IN" sz="2400" dirty="0" err="1"/>
              <a:t>Streamlit</a:t>
            </a:r>
            <a:r>
              <a:rPr lang="en-IN" sz="2400" dirty="0"/>
              <a:t> + IBM Granite Concepts</a:t>
            </a:r>
            <a:endParaRPr lang="en-US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D926A1-0833-2949-651F-2AAB4D91A8C9}"/>
              </a:ext>
            </a:extLst>
          </p:cNvPr>
          <p:cNvSpPr txBox="1"/>
          <p:nvPr/>
        </p:nvSpPr>
        <p:spPr>
          <a:xfrm>
            <a:off x="545592" y="704088"/>
            <a:ext cx="72146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1">
                    <a:lumMod val="75000"/>
                  </a:schemeClr>
                </a:solidFill>
              </a:rPr>
              <a:t>Technology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 Used: </a:t>
            </a:r>
            <a:endParaRPr lang="en-IN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75BB90-FAEE-0DEC-55E9-63379551CC5E}"/>
              </a:ext>
            </a:extLst>
          </p:cNvPr>
          <p:cNvSpPr txBox="1"/>
          <p:nvPr/>
        </p:nvSpPr>
        <p:spPr>
          <a:xfrm>
            <a:off x="545592" y="2982724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accent2">
                    <a:lumMod val="75000"/>
                  </a:schemeClr>
                </a:solidFill>
              </a:rPr>
              <a:t>Technologies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 Used: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62C70D-0D57-7D4C-6F54-DA81F752E2B7}"/>
              </a:ext>
            </a:extLst>
          </p:cNvPr>
          <p:cNvSpPr txBox="1"/>
          <p:nvPr/>
        </p:nvSpPr>
        <p:spPr>
          <a:xfrm>
            <a:off x="667512" y="3825383"/>
            <a:ext cx="611886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Stream lit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JSON Knowledge Base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IBM Granite Concepts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Agentic AI Workflow </a:t>
            </a:r>
          </a:p>
        </p:txBody>
      </p:sp>
    </p:spTree>
    <p:extLst>
      <p:ext uri="{BB962C8B-B14F-4D97-AF65-F5344CB8AC3E}">
        <p14:creationId xmlns:p14="http://schemas.microsoft.com/office/powerpoint/2010/main" val="42184672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0471B467-61AA-7BCA-460D-43041E80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1BF701-ABCA-4DF0-8330-B6AF71EF8E39}"/>
              </a:ext>
            </a:extLst>
          </p:cNvPr>
          <p:cNvSpPr txBox="1"/>
          <p:nvPr/>
        </p:nvSpPr>
        <p:spPr>
          <a:xfrm>
            <a:off x="576072" y="1234440"/>
            <a:ext cx="106070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endParaRPr lang="en-US" b="1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7F30CC-07EF-8FCC-DA00-C9212F5DAECE}"/>
              </a:ext>
            </a:extLst>
          </p:cNvPr>
          <p:cNvSpPr txBox="1"/>
          <p:nvPr/>
        </p:nvSpPr>
        <p:spPr>
          <a:xfrm>
            <a:off x="0" y="117693"/>
            <a:ext cx="12070080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Proposed Solution :</a:t>
            </a:r>
          </a:p>
          <a:p>
            <a:r>
              <a:rPr lang="en-US" sz="2400" dirty="0"/>
              <a:t>The proposed solution is an AI-powered Personalized Course Pathway Agent that helps students identify the best learning roadmap based on their interests, skill levels, and career goals.</a:t>
            </a:r>
          </a:p>
          <a:p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The system collects user inputs such as: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/>
              <a:t>preferred domain 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/>
              <a:t>current skill level 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/>
              <a:t>career objective </a:t>
            </a:r>
          </a:p>
          <a:p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Based on this information, the AI system generates: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/>
              <a:t>recommended skills 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/>
              <a:t>learning roadmap 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/>
              <a:t>suggested courses 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/>
              <a:t>mini projects 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/>
              <a:t>career guidance </a:t>
            </a:r>
          </a:p>
          <a:p>
            <a:r>
              <a:rPr lang="en-US" sz="2400" dirty="0"/>
              <a:t>The solution uses Agentic AI concepts to create a dynamic and personalized educational assistant.</a:t>
            </a:r>
          </a:p>
          <a:p>
            <a:r>
              <a:rPr lang="en-US" sz="2400" dirty="0"/>
              <a:t>fusion and helping students focus on the right technologies and career path.</a:t>
            </a:r>
          </a:p>
          <a:p>
            <a:endParaRPr lang="en-IN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02949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:a16="http://schemas.microsoft.com/office/drawing/2014/main" id="{2A145802-2DD3-EEBA-7D44-210C05B98C91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  <a:sym typeface="Times New Roman"/>
              </a:rPr>
              <a:t>Langflow</a:t>
            </a:r>
            <a:r>
              <a:rPr lang="en-US" sz="3500" b="1" i="0" u="none" strike="noStrike" cap="none" dirty="0">
                <a:solidFill>
                  <a:schemeClr val="accent1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sym typeface="Times New Roman"/>
              </a:rPr>
              <a:t>component Used :</a:t>
            </a:r>
            <a:endParaRPr sz="2400" b="1" dirty="0">
              <a:solidFill>
                <a:schemeClr val="accent1">
                  <a:lumMod val="75000"/>
                </a:schemeClr>
              </a:solidFill>
              <a:sym typeface="Times New Roman"/>
            </a:endParaRPr>
          </a:p>
        </p:txBody>
      </p:sp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B86949-7ED1-C43B-B1E3-5122BB67A596}"/>
              </a:ext>
            </a:extLst>
          </p:cNvPr>
          <p:cNvSpPr txBox="1"/>
          <p:nvPr/>
        </p:nvSpPr>
        <p:spPr>
          <a:xfrm>
            <a:off x="474822" y="1096577"/>
            <a:ext cx="8823960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1)Chat Input: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Allows users to enter: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interests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skill level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career goal</a:t>
            </a:r>
          </a:p>
          <a:p>
            <a:r>
              <a:rPr lang="en-US" dirty="0"/>
              <a:t> </a:t>
            </a:r>
          </a:p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2) IBM Granite Concept:</a:t>
            </a:r>
          </a:p>
          <a:p>
            <a:r>
              <a:rPr lang="en-US" dirty="0"/>
              <a:t>Used for intelligent recommendation generation and personalized guidance</a:t>
            </a:r>
          </a:p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.</a:t>
            </a:r>
          </a:p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3) Recommendation Engine:</a:t>
            </a:r>
          </a:p>
          <a:p>
            <a:r>
              <a:rPr lang="en-US" dirty="0"/>
              <a:t>Analyzes user preferences and generates learning pathways</a:t>
            </a:r>
          </a:p>
          <a:p>
            <a:r>
              <a:rPr lang="en-US" dirty="0"/>
              <a:t>.</a:t>
            </a:r>
          </a:p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4) Chat Output: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Displays: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skills to learn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courses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projects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career suggestions </a:t>
            </a:r>
          </a:p>
          <a:p>
            <a:endParaRPr lang="en-US" dirty="0"/>
          </a:p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5) File Component:</a:t>
            </a:r>
          </a:p>
          <a:p>
            <a:r>
              <a:rPr lang="en-US" dirty="0"/>
              <a:t>Stores roadmap and recommendation data using JSON knowledge base.</a:t>
            </a:r>
          </a:p>
        </p:txBody>
      </p:sp>
    </p:spTree>
    <p:extLst>
      <p:ext uri="{BB962C8B-B14F-4D97-AF65-F5344CB8AC3E}">
        <p14:creationId xmlns:p14="http://schemas.microsoft.com/office/powerpoint/2010/main" val="3285263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B64CF172-D2AF-03D8-F919-AA7827A0D969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sym typeface="Times New Roman"/>
              </a:rPr>
              <a:t>Lang flow</a:t>
            </a:r>
            <a:r>
              <a:rPr lang="en-US" sz="3500" b="1" i="0" u="none" strike="noStrike" cap="none" dirty="0">
                <a:solidFill>
                  <a:schemeClr val="accent1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sym typeface="Times New Roman"/>
              </a:rPr>
              <a:t>workflow: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endParaRPr lang="en-US" sz="2400" b="1" dirty="0">
              <a:sym typeface="Times New Roman"/>
            </a:endParaRPr>
          </a:p>
          <a:p>
            <a:r>
              <a:rPr lang="en-IN" sz="2400" b="1" dirty="0">
                <a:solidFill>
                  <a:schemeClr val="accent2">
                    <a:lumMod val="75000"/>
                  </a:schemeClr>
                </a:solidFill>
              </a:rPr>
              <a:t>Workflow:</a:t>
            </a:r>
          </a:p>
          <a:p>
            <a:endParaRPr lang="en-IN" sz="2400" b="1" dirty="0"/>
          </a:p>
          <a:p>
            <a:r>
              <a:rPr lang="en-IN" sz="2400" dirty="0"/>
              <a:t>User Input</a:t>
            </a:r>
            <a:br>
              <a:rPr lang="en-IN" sz="2400" dirty="0"/>
            </a:br>
            <a:r>
              <a:rPr lang="en-IN" sz="2400" dirty="0"/>
              <a:t>↓</a:t>
            </a:r>
            <a:br>
              <a:rPr lang="en-IN" sz="2400" dirty="0"/>
            </a:br>
            <a:r>
              <a:rPr lang="en-IN" sz="2400" dirty="0"/>
              <a:t>Interest &amp; Skill Analysis</a:t>
            </a:r>
            <a:br>
              <a:rPr lang="en-IN" sz="2400" dirty="0"/>
            </a:br>
            <a:r>
              <a:rPr lang="en-IN" sz="2400" dirty="0"/>
              <a:t>↓</a:t>
            </a:r>
            <a:br>
              <a:rPr lang="en-IN" sz="2400" dirty="0"/>
            </a:br>
            <a:r>
              <a:rPr lang="en-IN" sz="2400" dirty="0"/>
              <a:t>Recommendation Engine</a:t>
            </a:r>
            <a:br>
              <a:rPr lang="en-IN" sz="2400" dirty="0"/>
            </a:br>
            <a:r>
              <a:rPr lang="en-IN" sz="2400" dirty="0"/>
              <a:t>↓</a:t>
            </a:r>
            <a:br>
              <a:rPr lang="en-IN" sz="2400" dirty="0"/>
            </a:br>
            <a:r>
              <a:rPr lang="en-IN" sz="2400" dirty="0"/>
              <a:t>Personalized Roadmap Generation</a:t>
            </a:r>
            <a:br>
              <a:rPr lang="en-IN" sz="2400" dirty="0"/>
            </a:br>
            <a:r>
              <a:rPr lang="en-IN" sz="2400" dirty="0"/>
              <a:t>↓</a:t>
            </a:r>
            <a:br>
              <a:rPr lang="en-IN" sz="2400" dirty="0"/>
            </a:br>
            <a:r>
              <a:rPr lang="en-IN" sz="2400" dirty="0"/>
              <a:t>Course &amp; Project Suggestions</a:t>
            </a:r>
            <a:br>
              <a:rPr lang="en-IN" sz="2400" dirty="0"/>
            </a:br>
            <a:r>
              <a:rPr lang="en-IN" sz="2400" dirty="0"/>
              <a:t>↓</a:t>
            </a:r>
            <a:br>
              <a:rPr lang="en-IN" sz="2400" dirty="0"/>
            </a:br>
            <a:r>
              <a:rPr lang="en-IN" sz="2400" dirty="0"/>
              <a:t>Career Guidance Output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endParaRPr sz="2400" b="1" dirty="0">
              <a:sym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1E8739-081D-7BBF-373C-FA3B09EDDF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9707" y="991606"/>
            <a:ext cx="6082303" cy="4874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5019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84A7B44-8B20-5A39-ED43-DA98D0FC7976}"/>
              </a:ext>
            </a:extLst>
          </p:cNvPr>
          <p:cNvSpPr txBox="1"/>
          <p:nvPr/>
        </p:nvSpPr>
        <p:spPr>
          <a:xfrm>
            <a:off x="475488" y="283464"/>
            <a:ext cx="93177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             Role of Agentic AI in Learn Mate AI </a:t>
            </a:r>
            <a:endParaRPr lang="en-IN" sz="32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A477FF-AF75-CF60-81D4-830F107623F5}"/>
              </a:ext>
            </a:extLst>
          </p:cNvPr>
          <p:cNvSpPr txBox="1"/>
          <p:nvPr/>
        </p:nvSpPr>
        <p:spPr>
          <a:xfrm>
            <a:off x="475488" y="1289302"/>
            <a:ext cx="631719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Role of Agentic AI in Learn Mate AI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dirty="0"/>
              <a:t>Agentic AI enables the system to function as an intelligent educational assistant instead of a basic chatbot.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sz="1600" dirty="0">
                <a:solidFill>
                  <a:schemeClr val="accent2">
                    <a:lumMod val="75000"/>
                  </a:schemeClr>
                </a:solidFill>
              </a:rPr>
              <a:t>The AI autonomously analyzes:</a:t>
            </a:r>
          </a:p>
          <a:p>
            <a:pPr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user interests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skill levels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career goals </a:t>
            </a:r>
          </a:p>
          <a:p>
            <a:pPr>
              <a:buNone/>
            </a:pPr>
            <a:r>
              <a:rPr lang="en-US" dirty="0"/>
              <a:t>and generates personalized learning pathways dynamically.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sz="1800" dirty="0">
                <a:solidFill>
                  <a:schemeClr val="accent2">
                    <a:lumMod val="75000"/>
                  </a:schemeClr>
                </a:solidFill>
              </a:rPr>
              <a:t>The system behaves like a smart mentor by:</a:t>
            </a:r>
          </a:p>
          <a:p>
            <a:pPr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recommending technologies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suggesting projects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guiding career preparation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adapting recommendations </a:t>
            </a:r>
          </a:p>
          <a:p>
            <a:pPr>
              <a:buNone/>
            </a:pPr>
            <a:r>
              <a:rPr lang="en-US" dirty="0"/>
              <a:t>This improves learning efficiency and helps students make better academic and career decisions.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3FE450-FA2A-882C-3C59-2BF2D6B2DA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9559" y="1289302"/>
            <a:ext cx="4802441" cy="475861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1FBD4A-3273-E454-091D-D5B0678FC299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Technology Used:</a:t>
            </a:r>
            <a:endParaRPr lang="en-IN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7608B5-9906-EFCF-959A-E89FC2E3EE19}"/>
              </a:ext>
            </a:extLst>
          </p:cNvPr>
          <p:cNvSpPr txBox="1"/>
          <p:nvPr/>
        </p:nvSpPr>
        <p:spPr>
          <a:xfrm>
            <a:off x="777240" y="1207008"/>
            <a:ext cx="10515600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800" b="1" dirty="0" err="1"/>
              <a:t>Streamlit</a:t>
            </a:r>
            <a:r>
              <a:rPr lang="en-US" sz="1800" b="1" dirty="0"/>
              <a:t>:</a:t>
            </a:r>
          </a:p>
          <a:p>
            <a:r>
              <a:rPr lang="en-US" sz="1800" dirty="0"/>
              <a:t>Used for creating the interactive web interface.</a:t>
            </a:r>
          </a:p>
          <a:p>
            <a:endParaRPr lang="en-US" sz="1800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800" b="1" dirty="0"/>
              <a:t>Python:</a:t>
            </a:r>
          </a:p>
          <a:p>
            <a:r>
              <a:rPr lang="en-US" sz="1800" dirty="0"/>
              <a:t>Used for backend development and recommendation logic</a:t>
            </a:r>
          </a:p>
          <a:p>
            <a:r>
              <a:rPr lang="en-US" sz="1800" dirty="0"/>
              <a:t>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800" b="1" dirty="0"/>
              <a:t>IBM Granite Concepts:</a:t>
            </a:r>
          </a:p>
          <a:p>
            <a:r>
              <a:rPr lang="en-US" sz="1800" dirty="0"/>
              <a:t>Used for intelligent AI-based recommendation workflows.</a:t>
            </a:r>
          </a:p>
          <a:p>
            <a:endParaRPr lang="en-US" sz="1800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800" b="1" dirty="0"/>
              <a:t>JSON Knowledge Base</a:t>
            </a:r>
          </a:p>
          <a:p>
            <a:r>
              <a:rPr lang="en-US" sz="1800" dirty="0"/>
              <a:t>Used to store roadmap and course recommendation data</a:t>
            </a:r>
          </a:p>
          <a:p>
            <a:r>
              <a:rPr lang="en-US" sz="1800" dirty="0"/>
              <a:t>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800" b="1" dirty="0"/>
              <a:t>Agentic AI Workflow</a:t>
            </a:r>
          </a:p>
          <a:p>
            <a:r>
              <a:rPr lang="en-US" sz="1800" dirty="0"/>
              <a:t>Used for dynamic personalized guidance generation.</a:t>
            </a:r>
          </a:p>
          <a:p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44058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EEDEC80F-FA4E-F3FF-DE90-87B861D0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A184BA-BCF2-3D7B-30D0-0F3CF30C161B}"/>
              </a:ext>
            </a:extLst>
          </p:cNvPr>
          <p:cNvSpPr txBox="1"/>
          <p:nvPr/>
        </p:nvSpPr>
        <p:spPr>
          <a:xfrm>
            <a:off x="661493" y="797149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Novelty and Uniqueness:</a:t>
            </a:r>
            <a:endParaRPr lang="en-IN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65F54F-855A-0DB6-09A6-3212C5F7405B}"/>
              </a:ext>
            </a:extLst>
          </p:cNvPr>
          <p:cNvSpPr txBox="1"/>
          <p:nvPr/>
        </p:nvSpPr>
        <p:spPr>
          <a:xfrm>
            <a:off x="661493" y="1702806"/>
            <a:ext cx="11301984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/>
              <a:t>Personalized Learning Roadmaps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/>
              <a:t>AI-powered Course Recommendations</a:t>
            </a:r>
            <a:br>
              <a:rPr lang="en-IN" dirty="0"/>
            </a:br>
            <a:endParaRPr lang="en-IN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/>
              <a:t> Career-focused Guidance</a:t>
            </a:r>
            <a:br>
              <a:rPr lang="en-IN" dirty="0"/>
            </a:br>
            <a:endParaRPr lang="en-IN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/>
              <a:t> Beginner-Friendly User Interface</a:t>
            </a:r>
            <a:br>
              <a:rPr lang="en-IN" dirty="0"/>
            </a:br>
            <a:endParaRPr lang="en-IN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/>
              <a:t> Dynamic Recommendation System</a:t>
            </a:r>
            <a:br>
              <a:rPr lang="en-IN" dirty="0"/>
            </a:br>
            <a:endParaRPr lang="en-IN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/>
              <a:t> Education-Focused Agentic AI Solution</a:t>
            </a:r>
            <a:br>
              <a:rPr lang="en-IN" dirty="0"/>
            </a:br>
            <a:endParaRPr lang="en-IN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/>
              <a:t> Project &amp; Skill Suggestions in One Platform</a:t>
            </a:r>
          </a:p>
        </p:txBody>
      </p:sp>
    </p:spTree>
    <p:extLst>
      <p:ext uri="{BB962C8B-B14F-4D97-AF65-F5344CB8AC3E}">
        <p14:creationId xmlns:p14="http://schemas.microsoft.com/office/powerpoint/2010/main" val="9179641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55016524-E738-3D8C-3BB2-B0BE7C665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D62F03A8-A8A8-CB93-006E-7173DC866F6F}"/>
              </a:ext>
            </a:extLst>
          </p:cNvPr>
          <p:cNvSpPr/>
          <p:nvPr/>
        </p:nvSpPr>
        <p:spPr>
          <a:xfrm>
            <a:off x="812800" y="420729"/>
            <a:ext cx="6850420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sym typeface="Times New Roman"/>
              </a:rPr>
              <a:t>Git Hub Link:</a:t>
            </a:r>
          </a:p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endParaRPr lang="en-US" sz="2400" b="1" dirty="0">
              <a:solidFill>
                <a:schemeClr val="accent1">
                  <a:lumMod val="75000"/>
                </a:schemeClr>
              </a:solidFill>
              <a:sym typeface="Times New Roman"/>
            </a:endParaRPr>
          </a:p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sym typeface="Times New Roman"/>
              </a:rPr>
              <a:t>Learn Mate AI Project Git hub Link:</a:t>
            </a:r>
          </a:p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endParaRPr lang="en-US" sz="2400" b="1" dirty="0">
              <a:solidFill>
                <a:schemeClr val="accent2">
                  <a:lumMod val="75000"/>
                </a:schemeClr>
              </a:solidFill>
              <a:sym typeface="Times New Roman"/>
            </a:endParaRPr>
          </a:p>
          <a:p>
            <a:pPr lvl="0"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IN" sz="1800" b="1" dirty="0">
                <a:sym typeface="Times New Roman"/>
              </a:rPr>
              <a:t>https://github.com/Rohitha970/LearnMate-AI.git</a:t>
            </a:r>
            <a:endParaRPr sz="1800" b="1" dirty="0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15507A2F-9304-7475-5C74-2BAA93879CFE}"/>
              </a:ext>
            </a:extLst>
          </p:cNvPr>
          <p:cNvSpPr/>
          <p:nvPr/>
        </p:nvSpPr>
        <p:spPr>
          <a:xfrm>
            <a:off x="1218724" y="1153712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 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A4423EF4-BB52-2693-03DD-9F7D92D05218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FF042814-8077-DBD5-E8B6-E0D870CADB86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6A2761AF-8A54-98F2-52C2-794D9BA61C9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154848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0668C6FD-577A-7288-5642-1AFC22BD04F2}"/>
              </a:ext>
            </a:extLst>
          </p:cNvPr>
          <p:cNvSpPr/>
          <p:nvPr/>
        </p:nvSpPr>
        <p:spPr>
          <a:xfrm>
            <a:off x="182404" y="420729"/>
            <a:ext cx="748081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sym typeface="Times New Roman"/>
              </a:rPr>
              <a:t>Future Scope </a:t>
            </a:r>
            <a:endParaRPr sz="2400" b="1" dirty="0">
              <a:solidFill>
                <a:schemeClr val="accent1">
                  <a:lumMod val="75000"/>
                </a:schemeClr>
              </a:solidFill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EAFA16CB-0A72-5AC5-69A0-ABF4A752B43F}"/>
              </a:ext>
            </a:extLst>
          </p:cNvPr>
          <p:cNvSpPr/>
          <p:nvPr/>
        </p:nvSpPr>
        <p:spPr>
          <a:xfrm>
            <a:off x="182404" y="1290499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1.Integration with Online Learning Platforms</a:t>
            </a:r>
            <a:r>
              <a:rPr lang="en-US" sz="2000" dirty="0"/>
              <a:t>:</a:t>
            </a: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2000" dirty="0"/>
              <a:t>The system can integrate with platforms like Coursera, Udemy, and IBM </a:t>
            </a:r>
            <a:r>
              <a:rPr lang="en-US" sz="2000" dirty="0" err="1"/>
              <a:t>SkillsBuild</a:t>
            </a:r>
            <a:r>
              <a:rPr lang="en-US" sz="2000" dirty="0"/>
              <a:t> to recommend real-time courses and certifications.</a:t>
            </a: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IN" sz="2000" dirty="0">
                <a:solidFill>
                  <a:schemeClr val="accent2">
                    <a:lumMod val="75000"/>
                  </a:schemeClr>
                </a:solidFill>
              </a:rPr>
              <a:t>2. AI-Based Progress Tracking:</a:t>
            </a: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2000" dirty="0"/>
              <a:t>Future versions can monitor student progress and dynamically update learning pathways based on performance.</a:t>
            </a: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3.</a:t>
            </a:r>
            <a:r>
              <a:rPr lang="en-IN" sz="2000" dirty="0">
                <a:solidFill>
                  <a:schemeClr val="accent2">
                    <a:lumMod val="75000"/>
                  </a:schemeClr>
                </a:solidFill>
              </a:rPr>
              <a:t> Resume &amp; Placement Guidance:</a:t>
            </a:r>
          </a:p>
          <a:p>
            <a:r>
              <a:rPr lang="en-US" sz="2000" dirty="0"/>
              <a:t>The system can suggest resume improvements, mock interviews, and placement preparation strategies.</a:t>
            </a:r>
            <a:r>
              <a:rPr lang="en-US" sz="2000" b="1" dirty="0"/>
              <a:t> </a:t>
            </a:r>
          </a:p>
          <a:p>
            <a:endParaRPr lang="en-US" sz="2000" b="1" dirty="0"/>
          </a:p>
          <a:p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4. Multilingual Support:</a:t>
            </a:r>
          </a:p>
          <a:p>
            <a:r>
              <a:rPr lang="en-US" sz="2000" dirty="0"/>
              <a:t>Support for regional languages can improve accessibility for students from diverse backgrounds.</a:t>
            </a: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endParaRPr lang="en-US" sz="2000" dirty="0"/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endParaRPr lang="en-IN" sz="2000" dirty="0"/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B888011B-E4AC-77DB-4A60-BE2C891C49F5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91F05971-9256-10B5-6575-4E7C679C6DAA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1C3EBC2-438F-C150-9ABF-F14321C2CC5C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367067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BDEA25D-FE3D-7EE3-735C-7B5058F40510}"/>
              </a:ext>
            </a:extLst>
          </p:cNvPr>
          <p:cNvSpPr txBox="1"/>
          <p:nvPr/>
        </p:nvSpPr>
        <p:spPr>
          <a:xfrm>
            <a:off x="3342640" y="792480"/>
            <a:ext cx="623824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0" b="1" dirty="0">
                <a:solidFill>
                  <a:schemeClr val="accent1">
                    <a:lumMod val="75000"/>
                  </a:schemeClr>
                </a:solidFill>
              </a:rPr>
              <a:t>THANK YOU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B90B88-2BD4-63A0-8363-857A52CD0E1C}"/>
              </a:ext>
            </a:extLst>
          </p:cNvPr>
          <p:cNvSpPr txBox="1"/>
          <p:nvPr/>
        </p:nvSpPr>
        <p:spPr>
          <a:xfrm>
            <a:off x="1087120" y="3048000"/>
            <a:ext cx="561848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2">
                    <a:lumMod val="75000"/>
                  </a:schemeClr>
                </a:solidFill>
              </a:rPr>
              <a:t>Presented By:</a:t>
            </a:r>
          </a:p>
          <a:p>
            <a:endParaRPr lang="en-IN" dirty="0"/>
          </a:p>
          <a:p>
            <a:r>
              <a:rPr lang="en-IN" sz="1800" b="1" dirty="0">
                <a:solidFill>
                  <a:schemeClr val="accent1">
                    <a:lumMod val="75000"/>
                  </a:schemeClr>
                </a:solidFill>
              </a:rPr>
              <a:t>Name: </a:t>
            </a:r>
            <a:r>
              <a:rPr lang="en-IN" sz="1800" dirty="0"/>
              <a:t>T. Rohitha</a:t>
            </a:r>
          </a:p>
          <a:p>
            <a:endParaRPr lang="en-IN" dirty="0"/>
          </a:p>
          <a:p>
            <a:r>
              <a:rPr lang="en-IN" sz="1800" b="1" dirty="0">
                <a:solidFill>
                  <a:schemeClr val="accent1">
                    <a:lumMod val="75000"/>
                  </a:schemeClr>
                </a:solidFill>
              </a:rPr>
              <a:t>Department : </a:t>
            </a:r>
            <a:r>
              <a:rPr lang="en-IN" sz="1800" dirty="0"/>
              <a:t>Computer Science and Engineering</a:t>
            </a:r>
          </a:p>
          <a:p>
            <a:endParaRPr lang="en-IN" sz="1800" dirty="0"/>
          </a:p>
          <a:p>
            <a:r>
              <a:rPr lang="en-IN" sz="1800" b="1" dirty="0">
                <a:solidFill>
                  <a:schemeClr val="accent1">
                    <a:lumMod val="75000"/>
                  </a:schemeClr>
                </a:solidFill>
              </a:rPr>
              <a:t>Email ID : </a:t>
            </a:r>
            <a:r>
              <a:rPr lang="en-IN" sz="1800" dirty="0"/>
              <a:t>thogururohitha123@gmail.com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1471</TotalTime>
  <Words>744</Words>
  <Application>Microsoft Office PowerPoint</Application>
  <PresentationFormat>Widescreen</PresentationFormat>
  <Paragraphs>177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Times New Roman</vt:lpstr>
      <vt:lpstr>Wingdings</vt:lpstr>
      <vt:lpstr>Office Theme</vt:lpstr>
      <vt:lpstr>IBM University Engagement Project Submission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T ROHITHA</cp:lastModifiedBy>
  <cp:revision>23</cp:revision>
  <dcterms:created xsi:type="dcterms:W3CDTF">2025-07-08T05:06:56Z</dcterms:created>
  <dcterms:modified xsi:type="dcterms:W3CDTF">2026-05-22T07:38:02Z</dcterms:modified>
</cp:coreProperties>
</file>